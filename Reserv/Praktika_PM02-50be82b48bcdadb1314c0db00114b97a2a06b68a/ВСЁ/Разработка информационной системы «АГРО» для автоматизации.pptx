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10058-262D-B301-4073-85BBEBFA9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695" y="275208"/>
            <a:ext cx="10816069" cy="5079222"/>
          </a:xfrm>
        </p:spPr>
        <p:txBody>
          <a:bodyPr>
            <a:normAutofit/>
          </a:bodyPr>
          <a:lstStyle/>
          <a:p>
            <a:r>
              <a:rPr lang="ru-RU" sz="3200" b="1" dirty="0"/>
              <a:t>Разработка информационной системы «АГРО» для автоматизации производства средств защиты растений</a:t>
            </a:r>
            <a:br>
              <a:rPr lang="ru-RU" sz="3200" dirty="0"/>
            </a:br>
            <a:r>
              <a:rPr lang="ru-RU" sz="3200" b="1" dirty="0"/>
              <a:t>Вид практики:</a:t>
            </a:r>
            <a:r>
              <a:rPr lang="ru-RU" sz="3200" dirty="0"/>
              <a:t> Учебная практика</a:t>
            </a:r>
            <a:br>
              <a:rPr lang="ru-RU" sz="3200" dirty="0"/>
            </a:br>
            <a:r>
              <a:rPr lang="ru-RU" sz="3200" b="1" dirty="0"/>
              <a:t>ПМ 02:</a:t>
            </a:r>
            <a:r>
              <a:rPr lang="ru-RU" sz="3200" dirty="0"/>
              <a:t> Осуществление интеграции программных модулей</a:t>
            </a:r>
            <a:br>
              <a:rPr lang="ru-RU" sz="3200" dirty="0"/>
            </a:br>
            <a:r>
              <a:rPr lang="ru-RU" sz="3200" b="1" dirty="0"/>
              <a:t>Автор:</a:t>
            </a:r>
            <a:r>
              <a:rPr lang="ru-RU" sz="3200" dirty="0"/>
              <a:t> Кононов Тимофей Александрович</a:t>
            </a:r>
            <a:br>
              <a:rPr lang="ru-RU" sz="3200" dirty="0"/>
            </a:br>
            <a:r>
              <a:rPr lang="ru-RU" sz="3200" b="1" dirty="0"/>
              <a:t>Группа:</a:t>
            </a:r>
            <a:r>
              <a:rPr lang="ru-RU" sz="3200" dirty="0"/>
              <a:t> 23П-1</a:t>
            </a:r>
            <a:br>
              <a:rPr lang="ru-RU" sz="3200" dirty="0"/>
            </a:br>
            <a:r>
              <a:rPr lang="ru-RU" sz="3200" b="1" dirty="0"/>
              <a:t>Руководитель:</a:t>
            </a:r>
            <a:r>
              <a:rPr lang="ru-RU" sz="3200" dirty="0"/>
              <a:t> Седов Алексей Сергеевич</a:t>
            </a:r>
            <a:br>
              <a:rPr lang="ru-RU" sz="3200" dirty="0"/>
            </a:b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0919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70F1A-DB65-3066-169C-D199AB23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471" y="624110"/>
            <a:ext cx="9942142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Актуальность и цель</a:t>
            </a:r>
            <a:br>
              <a:rPr lang="ru-RU" b="1" dirty="0"/>
            </a:br>
            <a:r>
              <a:rPr lang="ru-RU" b="1" dirty="0"/>
              <a:t>Актуальность:</a:t>
            </a:r>
            <a:br>
              <a:rPr lang="ru-RU" dirty="0"/>
            </a:br>
            <a:r>
              <a:rPr lang="ru-RU" dirty="0"/>
              <a:t>Производство средств защиты растений чувствительно к отклонениям</a:t>
            </a:r>
            <a:br>
              <a:rPr lang="ru-RU" dirty="0"/>
            </a:br>
            <a:r>
              <a:rPr lang="ru-RU" dirty="0"/>
              <a:t>Ручной учёт приводит к потерям данных и ошибкам</a:t>
            </a:r>
            <a:br>
              <a:rPr lang="ru-RU" dirty="0"/>
            </a:br>
            <a:r>
              <a:rPr lang="ru-RU" dirty="0"/>
              <a:t>Нет единой цифровой среды для технолога, лаборанта и аппаратчика</a:t>
            </a:r>
            <a:br>
              <a:rPr lang="ru-RU" dirty="0"/>
            </a:br>
            <a:r>
              <a:rPr lang="ru-RU" b="1" dirty="0"/>
              <a:t>Цель:</a:t>
            </a:r>
            <a:br>
              <a:rPr lang="ru-RU" dirty="0"/>
            </a:br>
            <a:r>
              <a:rPr lang="ru-RU" dirty="0"/>
              <a:t>Разработать информационную систему для автоматизации производственных процессов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993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B4EE5-FC6E-D58F-4F18-31540BD6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993" y="561967"/>
            <a:ext cx="8911687" cy="1280890"/>
          </a:xfrm>
        </p:spPr>
        <p:txBody>
          <a:bodyPr/>
          <a:lstStyle/>
          <a:p>
            <a:r>
              <a:rPr lang="ru-RU" b="1" dirty="0"/>
              <a:t>Архитектура ИС «АГРО»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F6D5D3F-1376-61E0-17C8-F9B4CF953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078502"/>
              </p:ext>
            </p:extLst>
          </p:nvPr>
        </p:nvGraphicFramePr>
        <p:xfrm>
          <a:off x="1571993" y="1525901"/>
          <a:ext cx="7162800" cy="1442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20992828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135476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Уровень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Технология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8596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Клиентский (Desktop)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WPF (.NET Framework 4.8)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66193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Серверный (API)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u="sng">
                          <a:effectLst/>
                          <a:hlinkClick r:id="rId2"/>
                        </a:rPr>
                        <a:t>ASP.NET</a:t>
                      </a:r>
                      <a:r>
                        <a:rPr lang="ru-RU" sz="1100">
                          <a:effectLst/>
                        </a:rPr>
                        <a:t> Web API 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878457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Уровень данных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Microsoft SQL Server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47026868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1401FA-628A-288C-DC2F-8E75BA8BB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047" y="3495292"/>
            <a:ext cx="2333951" cy="28007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9A01CD-BA69-D751-58E4-8982B29D7B00}"/>
              </a:ext>
            </a:extLst>
          </p:cNvPr>
          <p:cNvSpPr txBox="1"/>
          <p:nvPr/>
        </p:nvSpPr>
        <p:spPr>
          <a:xfrm>
            <a:off x="4713744" y="342900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[Technolog.exe] ←→ [APIAGRO] ←→ [БД AGRO]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273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1C61D-4311-93D9-A30E-9944B773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102" y="304514"/>
            <a:ext cx="9871121" cy="1280890"/>
          </a:xfrm>
        </p:spPr>
        <p:txBody>
          <a:bodyPr>
            <a:noAutofit/>
          </a:bodyPr>
          <a:lstStyle/>
          <a:p>
            <a:r>
              <a:rPr lang="ru-RU" sz="2800" b="1" dirty="0"/>
              <a:t>База данных «AGRO»</a:t>
            </a:r>
            <a:br>
              <a:rPr lang="ru-RU" sz="2800" dirty="0"/>
            </a:br>
            <a:r>
              <a:rPr lang="ru-RU" sz="2800" dirty="0"/>
              <a:t>СУБД: Microsoft SQL Server</a:t>
            </a:r>
            <a:br>
              <a:rPr lang="ru-RU" sz="2800" dirty="0"/>
            </a:br>
            <a:r>
              <a:rPr lang="ru-RU" sz="2800" dirty="0"/>
              <a:t>Количество таблиц: 19</a:t>
            </a:r>
            <a:br>
              <a:rPr lang="ru-RU" sz="2800" dirty="0"/>
            </a:br>
            <a:r>
              <a:rPr lang="ru-RU" sz="2800" dirty="0"/>
              <a:t>Созданы индексы для всех таблиц</a:t>
            </a:r>
            <a:br>
              <a:rPr lang="ru-RU" sz="2800" dirty="0"/>
            </a:br>
            <a:r>
              <a:rPr lang="ru-RU" sz="2800" dirty="0"/>
              <a:t>Созданы триггеры</a:t>
            </a:r>
            <a:br>
              <a:rPr lang="ru-RU" sz="2800" dirty="0"/>
            </a:br>
            <a:r>
              <a:rPr lang="ru-RU" sz="2800" b="1" dirty="0"/>
              <a:t>Основные таблицы:</a:t>
            </a:r>
            <a:r>
              <a:rPr lang="ru-RU" sz="2800" dirty="0"/>
              <a:t> </a:t>
            </a:r>
            <a:r>
              <a:rPr lang="ru-RU" sz="2800" dirty="0" err="1"/>
              <a:t>Users</a:t>
            </a:r>
            <a:r>
              <a:rPr lang="ru-RU" sz="2800" dirty="0"/>
              <a:t>, Products, </a:t>
            </a:r>
            <a:r>
              <a:rPr lang="ru-RU" sz="2800" dirty="0" err="1"/>
              <a:t>Recipes</a:t>
            </a:r>
            <a:r>
              <a:rPr lang="ru-RU" sz="2800" dirty="0"/>
              <a:t>, </a:t>
            </a:r>
            <a:r>
              <a:rPr lang="ru-RU" sz="2800" dirty="0" err="1"/>
              <a:t>Batches</a:t>
            </a:r>
            <a:r>
              <a:rPr lang="ru-RU" sz="2800" dirty="0"/>
              <a:t>, </a:t>
            </a:r>
            <a:r>
              <a:rPr lang="ru-RU" sz="2800" dirty="0" err="1"/>
              <a:t>Deviations</a:t>
            </a:r>
            <a:br>
              <a:rPr lang="ru-RU" sz="2800" dirty="0"/>
            </a:br>
            <a:endParaRPr lang="ru-RU" sz="28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516D986-3256-3BA2-B45F-2E012332A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306" y="3568824"/>
            <a:ext cx="3990159" cy="27973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BED1DD-C798-CB7B-6D53-41FABA437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570" y="3479738"/>
            <a:ext cx="1996183" cy="30737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E93298-7E07-459A-5ED4-8644EF211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410" y="4112303"/>
            <a:ext cx="25527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9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FF9E1-3B77-8194-FB15-8EA37325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0844"/>
            <a:ext cx="8911687" cy="1280890"/>
          </a:xfrm>
        </p:spPr>
        <p:txBody>
          <a:bodyPr/>
          <a:lstStyle/>
          <a:p>
            <a:r>
              <a:rPr lang="ru-RU" b="1" dirty="0"/>
              <a:t>API сервер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10C327-DFEF-F8E5-708B-143A3DF9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196" y="1644589"/>
            <a:ext cx="3971386" cy="3361678"/>
          </a:xfrm>
        </p:spPr>
        <p:txBody>
          <a:bodyPr/>
          <a:lstStyle/>
          <a:p>
            <a:r>
              <a:rPr lang="en-US" b="1" dirty="0"/>
              <a:t>APIAGRO (</a:t>
            </a:r>
            <a:r>
              <a:rPr lang="en-US" b="1" dirty="0">
                <a:hlinkClick r:id="rId2"/>
              </a:rPr>
              <a:t>ASP.NET</a:t>
            </a:r>
            <a:r>
              <a:rPr lang="en-US" b="1" dirty="0"/>
              <a:t> Web API 2)</a:t>
            </a:r>
            <a:endParaRPr lang="en-US" dirty="0"/>
          </a:p>
          <a:p>
            <a:r>
              <a:rPr lang="en-US" dirty="0"/>
              <a:t>7 </a:t>
            </a:r>
            <a:r>
              <a:rPr lang="ru-RU" dirty="0"/>
              <a:t>контроллеров</a:t>
            </a:r>
          </a:p>
          <a:p>
            <a:r>
              <a:rPr lang="ru-RU" dirty="0"/>
              <a:t>23 </a:t>
            </a:r>
            <a:r>
              <a:rPr lang="en-US" dirty="0"/>
              <a:t>API </a:t>
            </a:r>
            <a:r>
              <a:rPr lang="ru-RU" dirty="0"/>
              <a:t>метода</a:t>
            </a:r>
          </a:p>
          <a:p>
            <a:r>
              <a:rPr lang="ru-RU" dirty="0"/>
              <a:t>Порт: 50543</a:t>
            </a:r>
          </a:p>
          <a:p>
            <a:r>
              <a:rPr lang="ru-RU" dirty="0"/>
              <a:t>Формат: </a:t>
            </a:r>
            <a:r>
              <a:rPr lang="en-US" dirty="0"/>
              <a:t>JSON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BE4C735-D0CA-96A1-695B-4CCA9CFD43AC}"/>
              </a:ext>
            </a:extLst>
          </p:cNvPr>
          <p:cNvSpPr txBox="1">
            <a:spLocks/>
          </p:cNvSpPr>
          <p:nvPr/>
        </p:nvSpPr>
        <p:spPr>
          <a:xfrm>
            <a:off x="5415379" y="1644589"/>
            <a:ext cx="6276512" cy="3361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Контроллер	</a:t>
            </a:r>
            <a:r>
              <a:rPr lang="en-US" b="1" dirty="0"/>
              <a:t>/ </a:t>
            </a:r>
            <a:r>
              <a:rPr lang="ru-RU" b="1" dirty="0"/>
              <a:t>Методы</a:t>
            </a:r>
          </a:p>
          <a:p>
            <a:r>
              <a:rPr lang="en-US" b="1" dirty="0" err="1"/>
              <a:t>AuthController</a:t>
            </a:r>
            <a:r>
              <a:rPr lang="en-US" b="1" dirty="0"/>
              <a:t>	/    Login, Register</a:t>
            </a:r>
          </a:p>
          <a:p>
            <a:r>
              <a:rPr lang="en-US" b="1" dirty="0" err="1"/>
              <a:t>ReferenceController</a:t>
            </a:r>
            <a:r>
              <a:rPr lang="en-US" b="1" dirty="0"/>
              <a:t>	/   CRUD </a:t>
            </a:r>
            <a:r>
              <a:rPr lang="ru-RU" b="1" dirty="0"/>
              <a:t>продуктов</a:t>
            </a:r>
          </a:p>
          <a:p>
            <a:r>
              <a:rPr lang="en-US" b="1" dirty="0"/>
              <a:t>ProductionController	/   </a:t>
            </a:r>
            <a:r>
              <a:rPr lang="ru-RU" b="1" dirty="0"/>
              <a:t>Заказы, партии, шаги</a:t>
            </a:r>
          </a:p>
          <a:p>
            <a:r>
              <a:rPr lang="en-US" b="1" dirty="0" err="1"/>
              <a:t>LabController</a:t>
            </a:r>
            <a:r>
              <a:rPr lang="en-US" b="1" dirty="0"/>
              <a:t>	   /    </a:t>
            </a:r>
            <a:r>
              <a:rPr lang="ru-RU" b="1" dirty="0"/>
              <a:t>Испытания, результаты</a:t>
            </a:r>
          </a:p>
          <a:p>
            <a:r>
              <a:rPr lang="en-US" b="1" dirty="0" err="1"/>
              <a:t>DeviationsController</a:t>
            </a:r>
            <a:r>
              <a:rPr lang="en-US" b="1" dirty="0"/>
              <a:t>  /</a:t>
            </a:r>
            <a:r>
              <a:rPr lang="ru-RU" b="1" dirty="0"/>
              <a:t>Отклонения, уведомления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5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3D605-497C-1867-5F32-BBD100E8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26" y="668468"/>
            <a:ext cx="4669009" cy="55662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Модуль технолога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8C6AF2-D324-8C27-CFAA-E573306F7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678" y="1441141"/>
            <a:ext cx="6199681" cy="3219635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Ведение продукции</a:t>
            </a:r>
          </a:p>
          <a:p>
            <a:r>
              <a:rPr lang="ru-RU" dirty="0"/>
              <a:t>Создание рецептур</a:t>
            </a:r>
          </a:p>
          <a:p>
            <a:r>
              <a:rPr lang="ru-RU" dirty="0"/>
              <a:t>Создание технологических карт</a:t>
            </a:r>
          </a:p>
          <a:p>
            <a:r>
              <a:rPr lang="ru-RU" dirty="0"/>
              <a:t>Формирование заказов и партий</a:t>
            </a:r>
          </a:p>
          <a:p>
            <a:r>
              <a:rPr lang="ru-RU" dirty="0"/>
              <a:t>Анализ отклонений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B03747-9713-B261-BD16-AA063673A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80" y="3958741"/>
            <a:ext cx="3816551" cy="24106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D80EF3-3953-68AA-78B3-094927950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878" y="4859119"/>
            <a:ext cx="3165413" cy="18583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387471-EC08-C920-3963-A710C701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878" y="3639964"/>
            <a:ext cx="3431852" cy="11199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0DD9B31-FCFB-A246-000B-B56CEF007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730" y="5940024"/>
            <a:ext cx="3781888" cy="777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DF5302-7C4E-DCA9-ED28-2D63EDC65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730" y="4957807"/>
            <a:ext cx="3781888" cy="82010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CE8668-6CCD-27E3-6301-22218AC9D1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928" y="3761944"/>
            <a:ext cx="3657491" cy="89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9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9C71E-8495-3E80-35EE-E3D36ECF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792" y="619641"/>
            <a:ext cx="4740030" cy="6542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Модуль лаборанта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90E84-42F3-2C44-12DC-FBA817803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1273915"/>
            <a:ext cx="6252947" cy="2500544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Контроль качества сырья</a:t>
            </a:r>
          </a:p>
          <a:p>
            <a:r>
              <a:rPr lang="ru-RU" dirty="0"/>
              <a:t>Контроль готовой продукции</a:t>
            </a:r>
          </a:p>
          <a:p>
            <a:r>
              <a:rPr lang="ru-RU" dirty="0"/>
              <a:t>Создание лабораторных испытаний</a:t>
            </a:r>
          </a:p>
          <a:p>
            <a:r>
              <a:rPr lang="ru-RU" dirty="0"/>
              <a:t>Ввод результатов анализов</a:t>
            </a:r>
          </a:p>
          <a:p>
            <a:r>
              <a:rPr lang="ru-RU" dirty="0"/>
              <a:t>Принятие решений (Допустить / Заблокировать)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A4EF10-C2B6-7BAE-DEE8-45DA55C26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1" y="4527612"/>
            <a:ext cx="3907386" cy="19417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A8288E-BCD0-2D9B-F2E2-753D586DE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739" y="604541"/>
            <a:ext cx="3967471" cy="110860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EE8000-84DC-4627-A83D-40670305C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345" y="1888171"/>
            <a:ext cx="4446865" cy="10880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DC41AF-67DB-0B56-DB9F-02D2BC1EC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638" y="3151267"/>
            <a:ext cx="3887572" cy="17316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4DB785-351A-E924-9C5F-E1BE556EA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880" y="3881762"/>
            <a:ext cx="3049347" cy="29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4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4D0215-F5F4-5646-DA63-83013C43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81" y="646274"/>
            <a:ext cx="5157281" cy="601008"/>
          </a:xfrm>
        </p:spPr>
        <p:txBody>
          <a:bodyPr>
            <a:normAutofit fontScale="90000"/>
          </a:bodyPr>
          <a:lstStyle/>
          <a:p>
            <a:r>
              <a:rPr lang="ru-RU" b="1"/>
              <a:t>Модуль аппаратчика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726244-C9E5-CDD1-CCC1-FF56D563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944" y="1479897"/>
            <a:ext cx="4876908" cy="2509421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Просмотр активных партий</a:t>
            </a:r>
          </a:p>
          <a:p>
            <a:r>
              <a:rPr lang="ru-RU" dirty="0"/>
              <a:t>Выполнение технологических шагов</a:t>
            </a:r>
          </a:p>
          <a:p>
            <a:r>
              <a:rPr lang="ru-RU" dirty="0"/>
              <a:t>Ввод фактических параметров (температура, давление, время)</a:t>
            </a:r>
          </a:p>
          <a:p>
            <a:r>
              <a:rPr lang="ru-RU" dirty="0"/>
              <a:t>Фиксация отклонений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BBD279-EC1B-9B5F-73A2-44B8629C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44" y="4629738"/>
            <a:ext cx="3896450" cy="204714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C7B3AB-8E0C-966F-EF3D-9606AE26B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452" y="177553"/>
            <a:ext cx="3410395" cy="237761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8BC9FE-DD01-D1C1-160F-023F163B5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695" y="1387222"/>
            <a:ext cx="3158757" cy="23358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2437EB-552C-61FC-D15E-8E8E21CF7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388" y="4629738"/>
            <a:ext cx="3735383" cy="204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75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CEEAC-1F3E-E154-2206-4A376489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158" y="632988"/>
            <a:ext cx="8911687" cy="1280890"/>
          </a:xfrm>
        </p:spPr>
        <p:txBody>
          <a:bodyPr/>
          <a:lstStyle/>
          <a:p>
            <a:r>
              <a:rPr lang="ru-RU" b="1" dirty="0"/>
              <a:t>Тестирование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F6884E-2E00-5A69-63A9-34C3D579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21" y="1540189"/>
            <a:ext cx="8915400" cy="3777622"/>
          </a:xfrm>
        </p:spPr>
        <p:txBody>
          <a:bodyPr/>
          <a:lstStyle/>
          <a:p>
            <a:r>
              <a:rPr lang="ru-RU" b="1" dirty="0"/>
              <a:t>Результаты тестирования: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423DE-7828-FC48-DE64-4D132079B07E}"/>
              </a:ext>
            </a:extLst>
          </p:cNvPr>
          <p:cNvSpPr txBox="1"/>
          <p:nvPr/>
        </p:nvSpPr>
        <p:spPr>
          <a:xfrm>
            <a:off x="6096000" y="2359414"/>
            <a:ext cx="3270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Модульные (MSTest)	</a:t>
            </a:r>
            <a:endParaRPr lang="en-US"/>
          </a:p>
          <a:p>
            <a:endParaRPr lang="en-US"/>
          </a:p>
          <a:p>
            <a:r>
              <a:rPr lang="ru-RU"/>
              <a:t>	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77847E-D054-415F-080A-29E9CEE80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472" y="2890035"/>
            <a:ext cx="5549900" cy="373316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0EFCEF-81BD-0F9F-9952-2696D10DE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28" y="2955123"/>
            <a:ext cx="3676650" cy="3602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01BC1E-8B31-6AA4-BCCC-28B0F4AFF8FE}"/>
              </a:ext>
            </a:extLst>
          </p:cNvPr>
          <p:cNvSpPr txBox="1"/>
          <p:nvPr/>
        </p:nvSpPr>
        <p:spPr>
          <a:xfrm>
            <a:off x="872231" y="236302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Интеграционные (</a:t>
            </a:r>
            <a:r>
              <a:rPr lang="ru-RU" dirty="0" err="1"/>
              <a:t>xUnit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490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19E6C-09EC-32FD-F971-64C939C2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/>
          <a:lstStyle/>
          <a:p>
            <a:r>
              <a:rPr lang="ru-RU" b="1" dirty="0"/>
              <a:t> 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40296-E5AE-8295-CA7D-4F5C1F678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Результаты работы:</a:t>
            </a:r>
            <a:endParaRPr lang="ru-RU" dirty="0"/>
          </a:p>
          <a:p>
            <a:r>
              <a:rPr lang="ru-RU" dirty="0"/>
              <a:t>Спроектирована и реализована БД (19 таблиц)</a:t>
            </a:r>
          </a:p>
          <a:p>
            <a:r>
              <a:rPr lang="ru-RU" dirty="0"/>
              <a:t>Разработан API (23 метода)</a:t>
            </a:r>
          </a:p>
          <a:p>
            <a:r>
              <a:rPr lang="ru-RU" dirty="0"/>
              <a:t>Создано десктоп-приложение для трёх ролей</a:t>
            </a:r>
          </a:p>
          <a:p>
            <a:r>
              <a:rPr lang="ru-RU"/>
              <a:t>Проведено </a:t>
            </a:r>
            <a:r>
              <a:rPr lang="ru-RU" dirty="0"/>
              <a:t>тестирование (34 теста пройдено)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0045471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</TotalTime>
  <Words>343</Words>
  <Application>Microsoft Office PowerPoint</Application>
  <PresentationFormat>Широкоэкранный</PresentationFormat>
  <Paragraphs>57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Легкий дым</vt:lpstr>
      <vt:lpstr>Разработка информационной системы «АГРО» для автоматизации производства средств защиты растений Вид практики: Учебная практика ПМ 02: Осуществление интеграции программных модулей Автор: Кононов Тимофей Александрович Группа: 23П-1 Руководитель: Седов Алексей Сергеевич </vt:lpstr>
      <vt:lpstr>Актуальность и цель Актуальность: Производство средств защиты растений чувствительно к отклонениям Ручной учёт приводит к потерям данных и ошибкам Нет единой цифровой среды для технолога, лаборанта и аппаратчика Цель: Разработать информационную систему для автоматизации производственных процессов </vt:lpstr>
      <vt:lpstr>Архитектура ИС «АГРО» </vt:lpstr>
      <vt:lpstr>База данных «AGRO» СУБД: Microsoft SQL Server Количество таблиц: 19 Созданы индексы для всех таблиц Созданы триггеры Основные таблицы: Users, Products, Recipes, Batches, Deviations </vt:lpstr>
      <vt:lpstr>API сервер</vt:lpstr>
      <vt:lpstr>Модуль технолога </vt:lpstr>
      <vt:lpstr>Модуль лаборанта </vt:lpstr>
      <vt:lpstr>Модуль аппаратчика</vt:lpstr>
      <vt:lpstr>Тестирование </vt:lpstr>
      <vt:lpstr> 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Kab19-12</dc:creator>
  <cp:lastModifiedBy>Kab19-12</cp:lastModifiedBy>
  <cp:revision>2</cp:revision>
  <dcterms:created xsi:type="dcterms:W3CDTF">2026-05-19T05:39:51Z</dcterms:created>
  <dcterms:modified xsi:type="dcterms:W3CDTF">2026-05-19T06:12:02Z</dcterms:modified>
</cp:coreProperties>
</file>